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"/>
            <a:ext cx="9144000" cy="751840"/>
          </a:xfrm>
          <a:custGeom>
            <a:avLst/>
            <a:gdLst/>
            <a:ahLst/>
            <a:cxnLst/>
            <a:rect l="l" t="t" r="r" b="b"/>
            <a:pathLst>
              <a:path w="9144000" h="751840">
                <a:moveTo>
                  <a:pt x="9143631" y="664184"/>
                </a:moveTo>
                <a:lnTo>
                  <a:pt x="4609439" y="664184"/>
                </a:lnTo>
                <a:lnTo>
                  <a:pt x="7168318" y="689251"/>
                </a:lnTo>
                <a:lnTo>
                  <a:pt x="9143631" y="751306"/>
                </a:lnTo>
                <a:lnTo>
                  <a:pt x="9143631" y="664184"/>
                </a:lnTo>
                <a:close/>
              </a:path>
              <a:path w="9144000" h="751840">
                <a:moveTo>
                  <a:pt x="9143631" y="0"/>
                </a:moveTo>
                <a:lnTo>
                  <a:pt x="0" y="0"/>
                </a:lnTo>
                <a:lnTo>
                  <a:pt x="0" y="751288"/>
                </a:lnTo>
                <a:lnTo>
                  <a:pt x="3529073" y="672018"/>
                </a:lnTo>
                <a:lnTo>
                  <a:pt x="9143631" y="664184"/>
                </a:lnTo>
                <a:lnTo>
                  <a:pt x="9143631" y="0"/>
                </a:lnTo>
                <a:close/>
              </a:path>
            </a:pathLst>
          </a:custGeom>
          <a:solidFill>
            <a:srgbClr val="FB6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3555" y="837113"/>
            <a:ext cx="3667067" cy="142800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355" y="6629400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9143631" y="0"/>
                </a:moveTo>
                <a:lnTo>
                  <a:pt x="0" y="0"/>
                </a:lnTo>
                <a:lnTo>
                  <a:pt x="0" y="228244"/>
                </a:lnTo>
                <a:lnTo>
                  <a:pt x="4572000" y="228244"/>
                </a:lnTo>
                <a:lnTo>
                  <a:pt x="9143631" y="228244"/>
                </a:lnTo>
                <a:lnTo>
                  <a:pt x="9143631" y="0"/>
                </a:lnTo>
                <a:close/>
              </a:path>
            </a:pathLst>
          </a:custGeom>
          <a:solidFill>
            <a:srgbClr val="FB6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"/>
            <a:ext cx="9144000" cy="990600"/>
          </a:xfrm>
          <a:custGeom>
            <a:avLst/>
            <a:gdLst/>
            <a:ahLst/>
            <a:cxnLst/>
            <a:rect l="l" t="t" r="r" b="b"/>
            <a:pathLst>
              <a:path w="9144000" h="990600">
                <a:moveTo>
                  <a:pt x="9143631" y="894943"/>
                </a:moveTo>
                <a:lnTo>
                  <a:pt x="4609439" y="894943"/>
                </a:lnTo>
                <a:lnTo>
                  <a:pt x="7261282" y="924513"/>
                </a:lnTo>
                <a:lnTo>
                  <a:pt x="9143631" y="990345"/>
                </a:lnTo>
                <a:lnTo>
                  <a:pt x="9143631" y="894943"/>
                </a:lnTo>
                <a:close/>
              </a:path>
              <a:path w="9144000" h="990600">
                <a:moveTo>
                  <a:pt x="9143631" y="0"/>
                </a:moveTo>
                <a:lnTo>
                  <a:pt x="0" y="0"/>
                </a:lnTo>
                <a:lnTo>
                  <a:pt x="0" y="990325"/>
                </a:lnTo>
                <a:lnTo>
                  <a:pt x="3279666" y="907156"/>
                </a:lnTo>
                <a:lnTo>
                  <a:pt x="9143631" y="894943"/>
                </a:lnTo>
                <a:lnTo>
                  <a:pt x="9143631" y="0"/>
                </a:lnTo>
                <a:close/>
              </a:path>
            </a:pathLst>
          </a:custGeom>
          <a:solidFill>
            <a:srgbClr val="FB6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630" y="88201"/>
            <a:ext cx="321119" cy="7711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2979" y="2357183"/>
            <a:ext cx="179804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836" y="2590800"/>
            <a:ext cx="7010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dirty="0" err="1"/>
              <a:t>Facultad</a:t>
            </a:r>
            <a:r>
              <a:rPr sz="2800" b="1" spc="-55" dirty="0"/>
              <a:t> </a:t>
            </a:r>
            <a:r>
              <a:rPr sz="2800" b="1" dirty="0"/>
              <a:t>de</a:t>
            </a:r>
            <a:r>
              <a:rPr lang="es-ES" sz="2800" b="1" dirty="0"/>
              <a:t> Ingeniería Industrial y de Sistemas</a:t>
            </a:r>
            <a:endParaRPr sz="2800" b="1" spc="-50" dirty="0"/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1863436" y="3276600"/>
            <a:ext cx="5791200" cy="2675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s-ES" dirty="0"/>
              <a:t>Docente: Ing. </a:t>
            </a:r>
            <a:r>
              <a:rPr lang="es-ES" dirty="0" err="1"/>
              <a:t>Michue</a:t>
            </a:r>
            <a:r>
              <a:rPr lang="es-ES" dirty="0"/>
              <a:t> </a:t>
            </a:r>
            <a:r>
              <a:rPr lang="es-ES" dirty="0" err="1"/>
              <a:t>Salguedo</a:t>
            </a:r>
            <a:r>
              <a:rPr lang="es-ES" dirty="0"/>
              <a:t> </a:t>
            </a:r>
            <a:r>
              <a:rPr lang="es-ES" dirty="0" err="1"/>
              <a:t>Efren</a:t>
            </a:r>
            <a:r>
              <a:rPr lang="es-ES" dirty="0"/>
              <a:t> Silverio </a:t>
            </a:r>
          </a:p>
          <a:p>
            <a:pPr marL="12700" algn="ctr">
              <a:spcBef>
                <a:spcPts val="100"/>
              </a:spcBef>
            </a:pPr>
            <a:endParaRPr lang="es-ES" dirty="0"/>
          </a:p>
          <a:p>
            <a:pPr marL="12700" algn="ctr">
              <a:spcBef>
                <a:spcPts val="100"/>
              </a:spcBef>
            </a:pPr>
            <a:r>
              <a:rPr lang="es-ES" dirty="0"/>
              <a:t>Curso: Practicas pre profesionales II</a:t>
            </a:r>
          </a:p>
          <a:p>
            <a:pPr marL="12700" algn="ctr">
              <a:spcBef>
                <a:spcPts val="100"/>
              </a:spcBef>
            </a:pPr>
            <a:endParaRPr lang="es-ES" dirty="0"/>
          </a:p>
          <a:p>
            <a:pPr marL="12700" algn="ctr">
              <a:spcBef>
                <a:spcPts val="100"/>
              </a:spcBef>
            </a:pPr>
            <a:r>
              <a:rPr lang="es-ES" dirty="0"/>
              <a:t>Alumno: Valencia Meza </a:t>
            </a:r>
            <a:r>
              <a:rPr lang="es-ES" dirty="0" err="1"/>
              <a:t>Antony</a:t>
            </a:r>
            <a:r>
              <a:rPr lang="es-ES" dirty="0"/>
              <a:t> Joseph</a:t>
            </a:r>
          </a:p>
          <a:p>
            <a:pPr marL="12700" algn="ctr">
              <a:spcBef>
                <a:spcPts val="100"/>
              </a:spcBef>
            </a:pPr>
            <a:endParaRPr lang="es-ES" dirty="0"/>
          </a:p>
          <a:p>
            <a:pPr marL="12700" algn="ctr">
              <a:spcBef>
                <a:spcPts val="100"/>
              </a:spcBef>
            </a:pPr>
            <a:r>
              <a:rPr lang="es-ES"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CuadroTexto 3"/>
          <p:cNvSpPr txBox="1"/>
          <p:nvPr/>
        </p:nvSpPr>
        <p:spPr>
          <a:xfrm>
            <a:off x="228600" y="1219200"/>
            <a:ext cx="86868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kern="0"/>
            </a:defPPr>
            <a:lvl1pPr algn="ctr"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s-ES" dirty="0"/>
              <a:t>OFICINA NACIONAL DE PROCESOS ELECTORALES – ONPE </a:t>
            </a:r>
            <a:endParaRPr lang="es-PE" dirty="0"/>
          </a:p>
        </p:txBody>
      </p:sp>
      <p:sp>
        <p:nvSpPr>
          <p:cNvPr id="5" name="CuadroTexto 4"/>
          <p:cNvSpPr txBox="1"/>
          <p:nvPr/>
        </p:nvSpPr>
        <p:spPr>
          <a:xfrm>
            <a:off x="533400" y="2057400"/>
            <a:ext cx="5791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Descripción: 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Organismo electoral constitucional autónomo encargado de organizar y ejecutar distintos procesos electorales, de referéndum y otros tipos de consulta popular</a:t>
            </a:r>
          </a:p>
          <a:p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Unidad orgánica: 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Subgerencia de Sistemas de Información -</a:t>
            </a:r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datos</a:t>
            </a:r>
          </a:p>
          <a:p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análisis, desarrollo, adecuación, mantenimiento, soporte e integración para la puesta en producción de los sistemas y aplicativos electorales y administrativos de la institución, en particular en las modalidades correspondientes a los Servicios de Certificación Digital en los procesos electorales y consultas populares </a:t>
            </a:r>
          </a:p>
          <a:p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Problemas actuales: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Migración de sistemas actuales al gestor de bases de datos (</a:t>
            </a:r>
            <a:r>
              <a:rPr lang="es-E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empleando procedimientos manuales y no estandarizados que afectan la efectividad de las entregas a QA.</a:t>
            </a:r>
            <a:endParaRPr lang="es-PE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NPE - Obligaciones y Cumplimien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905000"/>
            <a:ext cx="1904999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Qué son las Bases de Datos como Servicio (DBaaS): Ventajas | Data Center  Mark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10000"/>
            <a:ext cx="2438400" cy="20673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95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ángulo 4"/>
          <p:cNvSpPr/>
          <p:nvPr/>
        </p:nvSpPr>
        <p:spPr>
          <a:xfrm>
            <a:off x="853465" y="939496"/>
            <a:ext cx="708659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Proyecto: </a:t>
            </a:r>
            <a:r>
              <a:rPr lang="es-ES" sz="2000" dirty="0"/>
              <a:t>Flujo integral de procesamiento y visualización de información electoral</a:t>
            </a:r>
            <a:endParaRPr lang="es-E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04800" y="1810464"/>
            <a:ext cx="8686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OBJETIVO: 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Diseñar e implementar un flujo automatizado para la gestión, transformación y análisis de datos electorales de la ONPE, utilizando herramientas de modelado, integración y visualización que permitan optimizar los procesos de actualización y presentación de información relevante para la toma de decisiones.</a:t>
            </a:r>
          </a:p>
          <a:p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HERRAMIETAS: </a:t>
            </a:r>
            <a:r>
              <a:rPr lang="es-PE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DbSchema</a:t>
            </a:r>
            <a:r>
              <a:rPr lang="es-P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Spoon</a:t>
            </a:r>
            <a:r>
              <a:rPr lang="es-P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Pentaho</a:t>
            </a:r>
            <a:r>
              <a:rPr lang="es-P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DI, n8n y </a:t>
            </a:r>
            <a:r>
              <a:rPr lang="es-PE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s-P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</a:t>
            </a:r>
            <a:b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ALCANCE:</a:t>
            </a:r>
            <a:b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un modelo relacional para almacenar información electoral simulada (mesas, locales, electores y resultados).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Construcción de flujos ETL en </a:t>
            </a:r>
            <a:r>
              <a:rPr lang="es-E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Pentaho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consolidar y limpiar los datos provenientes de diferentes fuentes.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Configuración de tareas automatizadas en n8n para ejecutar los procesos de carga y actualización de </a:t>
            </a:r>
            <a:r>
              <a:rPr lang="es-E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forma programada.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 </a:t>
            </a:r>
            <a:r>
              <a:rPr lang="es-E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interactivo en </a:t>
            </a:r>
            <a:r>
              <a:rPr lang="es-E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 que muestre indicadores como participación, votos válidos, blancos y nulos por región o distrito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s-E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.Documentación técnica del flujo de datos y evidencias de la automatización implementada.</a:t>
            </a:r>
          </a:p>
          <a:p>
            <a:endParaRPr lang="es-PE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0200"/>
            <a:ext cx="8382000" cy="48006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28600" y="1066800"/>
            <a:ext cx="86868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kern="0"/>
            </a:defPPr>
            <a:lvl1pPr algn="ctr"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s-ES" dirty="0"/>
              <a:t>DBSCHEMA – MODELADO FISICO Y DOCUMENTACIÓN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4460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CuadroTexto 4"/>
          <p:cNvSpPr txBox="1"/>
          <p:nvPr/>
        </p:nvSpPr>
        <p:spPr>
          <a:xfrm>
            <a:off x="228600" y="1066800"/>
            <a:ext cx="86868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kern="0"/>
            </a:defPPr>
            <a:lvl1pPr algn="ctr"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s-ES" dirty="0"/>
              <a:t>ARQUITECTURA DE UN SISTEMA</a:t>
            </a:r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76400"/>
            <a:ext cx="649599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9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CuadroTexto 3"/>
          <p:cNvSpPr txBox="1"/>
          <p:nvPr/>
        </p:nvSpPr>
        <p:spPr>
          <a:xfrm>
            <a:off x="208270" y="1021007"/>
            <a:ext cx="86868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kern="0"/>
            </a:defPPr>
            <a:lvl1pPr algn="ctr"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s-ES" dirty="0"/>
              <a:t>SPOON – EXTRACCIÓN, TRASNFORMACIÓN Y CARGA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t="7249" r="3346"/>
          <a:stretch/>
        </p:blipFill>
        <p:spPr>
          <a:xfrm>
            <a:off x="1069090" y="1480765"/>
            <a:ext cx="6965162" cy="194976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t="9008"/>
          <a:stretch/>
        </p:blipFill>
        <p:spPr>
          <a:xfrm>
            <a:off x="984495" y="3276600"/>
            <a:ext cx="7134351" cy="187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6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9" y="1447800"/>
            <a:ext cx="7563906" cy="97168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67" y="2640868"/>
            <a:ext cx="6487430" cy="114316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05410"/>
            <a:ext cx="8573696" cy="218152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579B064-0455-37BA-AE4B-A7C41F76AA41}"/>
              </a:ext>
            </a:extLst>
          </p:cNvPr>
          <p:cNvSpPr txBox="1"/>
          <p:nvPr/>
        </p:nvSpPr>
        <p:spPr>
          <a:xfrm>
            <a:off x="228600" y="1026363"/>
            <a:ext cx="86868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kern="0"/>
            </a:defPPr>
            <a:lvl1pPr algn="ctr"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s-ES" dirty="0"/>
              <a:t>FORMACIÓN DE JOBS DE AUTOMATIZACIÓN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9008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CF0DF1-42D6-C498-954B-829AC56C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86148"/>
            <a:ext cx="8382000" cy="50167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68FC7E2-C189-DCB4-3B35-5C8AB525A071}"/>
              </a:ext>
            </a:extLst>
          </p:cNvPr>
          <p:cNvSpPr txBox="1"/>
          <p:nvPr/>
        </p:nvSpPr>
        <p:spPr>
          <a:xfrm>
            <a:off x="228600" y="1026363"/>
            <a:ext cx="86868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kern="0"/>
            </a:defPPr>
            <a:lvl1pPr algn="ctr"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s-ES" dirty="0"/>
              <a:t>CARGA Y ACTUALIZACIÓN DE UN DASHBOARD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9568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465" y="255130"/>
            <a:ext cx="1649730" cy="38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50" spc="80" dirty="0">
                <a:latin typeface="Arial"/>
                <a:cs typeface="Arial"/>
              </a:rPr>
              <a:t>Universidad</a:t>
            </a:r>
            <a:r>
              <a:rPr sz="1150" spc="229" dirty="0">
                <a:latin typeface="Arial"/>
                <a:cs typeface="Arial"/>
              </a:rPr>
              <a:t> </a:t>
            </a:r>
            <a:r>
              <a:rPr sz="1150" spc="70" dirty="0">
                <a:latin typeface="Arial"/>
                <a:cs typeface="Arial"/>
              </a:rPr>
              <a:t>Nacional</a:t>
            </a:r>
            <a:endParaRPr sz="1150">
              <a:latin typeface="Arial"/>
              <a:cs typeface="Arial"/>
            </a:endParaRPr>
          </a:p>
          <a:p>
            <a:pPr marL="13335">
              <a:lnSpc>
                <a:spcPts val="1600"/>
              </a:lnSpc>
            </a:pPr>
            <a:r>
              <a:rPr sz="1450" b="1" dirty="0">
                <a:latin typeface="Arial"/>
                <a:cs typeface="Arial"/>
              </a:rPr>
              <a:t>Federico</a:t>
            </a:r>
            <a:r>
              <a:rPr sz="1450" b="1" spc="80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Villarreal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119" y="654837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CEBB73-D4EA-B912-56D3-780308754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1600"/>
            <a:ext cx="8839200" cy="49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8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380</Words>
  <Application>Microsoft Office PowerPoint</Application>
  <PresentationFormat>Presentación en pantalla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Facultad de Ingeniería Industrial y de Sistemas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UNFV</dc:creator>
  <cp:lastModifiedBy>Antony Joseph Valencia Meza</cp:lastModifiedBy>
  <cp:revision>16</cp:revision>
  <dcterms:created xsi:type="dcterms:W3CDTF">2025-10-06T15:20:42Z</dcterms:created>
  <dcterms:modified xsi:type="dcterms:W3CDTF">2025-11-16T13:44:25Z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2020-10-08T00:00:00Z</vt:filetime>
  </property>
  <property fmtid="{D5CDD505-2E9C-101B-9397-08002B2CF9AE}" pid="3" name="Creator">
    <vt:lpwstr>Impress</vt:lpwstr>
  </property>
  <property fmtid="{D5CDD505-2E9C-101B-9397-08002B2CF9AE}" pid="4" name="LastSaved">
    <vt:filetime>2020-10-08T00:00:00Z</vt:filetime>
  </property>
</Properties>
</file>